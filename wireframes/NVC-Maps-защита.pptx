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клад" id="{9cd36d0a-1601-760f-136c-213195c045f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осле доклада" id="{958a8ca6-ff79-a2c0-418e-b88959c5a8c0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kalashnikovkv.github.io/nvc-business-analysis/d01-analysis.html#analogs" TargetMode="External"/><Relationship Id="rId2" Type="http://schemas.openxmlformats.org/officeDocument/2006/relationships/hyperlink" Target="https://kalashnikovkv.github.io/nvc-business-analysis/d04-backlog.html" TargetMode="External"/><Relationship Id="rId3" Type="http://schemas.openxmlformats.org/officeDocument/2006/relationships/hyperlink" Target="https://kalashnikovkv.github.io/nvc-business-analysis/d02-requirements.html#risks" TargetMode="External"/><Relationship Id="rId4" Type="http://schemas.openxmlformats.org/officeDocument/2006/relationships/hyperlink" Target="https://kalashnikovkv.github.io/nvc-business-analysis/d02-requirements.html#use-cases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NVC Maps · бакалаврский проект</a:t>
            </a:r>
            <a:endParaRPr lang="en-US" sz="1300" dirty="0"/>
          </a:p>
        </p:txBody>
      </p:sp>
      <p:sp>
        <p:nvSpPr>
          <p:cNvPr id="3" name="title"/>
          <p:cNvSpPr txBox="1"/>
          <p:nvPr/>
        </p:nvSpPr>
        <p:spPr>
          <a:xfrm>
            <a:off x="457200" y="146304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создания игровых 3D-карт по видеозаписи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for Creating 3D Game Maps from Video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Кирилл Калашников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доцент, кандидат технических наук Сергей Валентинович Авдейчик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in-0"/>
          <p:cNvSpPr/>
          <p:nvPr/>
        </p:nvSpPr>
        <p:spPr>
          <a:xfrm>
            <a:off x="457200" y="27432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5" name="chain-1"/>
          <p:cNvSpPr/>
          <p:nvPr/>
        </p:nvSpPr>
        <p:spPr>
          <a:xfrm>
            <a:off x="1508760" y="274320"/>
            <a:ext cx="51206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7432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20824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8" name="chain-2"/>
          <p:cNvSpPr/>
          <p:nvPr/>
        </p:nvSpPr>
        <p:spPr>
          <a:xfrm>
            <a:off x="2249424" y="274320"/>
            <a:ext cx="97840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2743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chain-3"/>
          <p:cNvSpPr/>
          <p:nvPr/>
        </p:nvSpPr>
        <p:spPr>
          <a:xfrm>
            <a:off x="3456432" y="274320"/>
            <a:ext cx="58978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6432" y="274320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снимает место, но не делает из него уровень</a:t>
            </a:r>
            <a:endParaRPr lang="en-US" sz="2600" dirty="0"/>
          </a:p>
        </p:txBody>
      </p:sp>
      <p:sp>
        <p:nvSpPr>
          <p:cNvPr id="14" name="number"/>
          <p:cNvSpPr txBox="1"/>
          <p:nvPr/>
        </p:nvSpPr>
        <p:spPr>
          <a:xfrm>
            <a:off x="457200" y="19202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70 000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632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авторов карт в Fortnite в 2024 году — почти втрое больше, чем годом раньше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228600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Опору для персонажа, упрощение и размеры делают вручную. Брак съёмки виден только в игровом движке.</a:t>
            </a:r>
            <a:endParaRPr lang="en-US" sz="1800" dirty="0"/>
          </a:p>
        </p:txBody>
      </p:sp>
      <p:sp>
        <p:nvSpPr>
          <p:cNvPr id="17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Введение: актуальность и проблема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in-0"/>
          <p:cNvSpPr/>
          <p:nvPr/>
        </p:nvSpPr>
        <p:spPr>
          <a:xfrm>
            <a:off x="457200" y="27432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5" name="chain-1"/>
          <p:cNvSpPr/>
          <p:nvPr/>
        </p:nvSpPr>
        <p:spPr>
          <a:xfrm>
            <a:off x="1508760" y="274320"/>
            <a:ext cx="512064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7432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20824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8" name="chain-2"/>
          <p:cNvSpPr/>
          <p:nvPr/>
        </p:nvSpPr>
        <p:spPr>
          <a:xfrm>
            <a:off x="2249424" y="274320"/>
            <a:ext cx="97840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2743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chain-3"/>
          <p:cNvSpPr/>
          <p:nvPr/>
        </p:nvSpPr>
        <p:spPr>
          <a:xfrm>
            <a:off x="3456432" y="274320"/>
            <a:ext cx="58978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6432" y="274320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обход телефоном — и проходимый уровень без ручной доводки</a:t>
            </a:r>
            <a:endParaRPr lang="en-US" sz="2600" dirty="0"/>
          </a:p>
        </p:txBody>
      </p:sp>
      <p:sp>
        <p:nvSpPr>
          <p:cNvPr id="14" name="task-0"/>
          <p:cNvSpPr/>
          <p:nvPr/>
        </p:nvSpPr>
        <p:spPr>
          <a:xfrm>
            <a:off x="457200" y="173736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3F8F7"/>
          </a:solidFill>
          <a:ln w="12700">
            <a:solidFill>
              <a:srgbClr val="CFE9E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" y="1792224"/>
            <a:ext cx="1389888" cy="9418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1.1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делают сейчас</a:t>
            </a:r>
            <a:endParaRPr lang="en-US" sz="1400" dirty="0"/>
          </a:p>
        </p:txBody>
      </p:sp>
      <p:sp>
        <p:nvSpPr>
          <p:cNvPr id="16" name="task-1"/>
          <p:cNvSpPr/>
          <p:nvPr/>
        </p:nvSpPr>
        <p:spPr>
          <a:xfrm>
            <a:off x="2130552" y="173736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3F8F7"/>
          </a:solidFill>
          <a:ln w="12700">
            <a:solidFill>
              <a:srgbClr val="CFE9E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203704" y="1792224"/>
            <a:ext cx="1389888" cy="9418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1.2–1.3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и аналоги</a:t>
            </a:r>
            <a:endParaRPr lang="en-US" sz="1400" dirty="0"/>
          </a:p>
        </p:txBody>
      </p:sp>
      <p:sp>
        <p:nvSpPr>
          <p:cNvPr id="18" name="task-2"/>
          <p:cNvSpPr/>
          <p:nvPr/>
        </p:nvSpPr>
        <p:spPr>
          <a:xfrm>
            <a:off x="3803904" y="173736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3F8F7"/>
          </a:solidFill>
          <a:ln w="12700">
            <a:solidFill>
              <a:srgbClr val="CFE9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77056" y="1792224"/>
            <a:ext cx="1389888" cy="9418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2.1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Видение и показатели</a:t>
            </a:r>
            <a:endParaRPr lang="en-US" sz="1400" dirty="0"/>
          </a:p>
        </p:txBody>
      </p:sp>
      <p:sp>
        <p:nvSpPr>
          <p:cNvPr id="20" name="task-3"/>
          <p:cNvSpPr/>
          <p:nvPr/>
        </p:nvSpPr>
        <p:spPr>
          <a:xfrm>
            <a:off x="5477256" y="173736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3F8F7"/>
          </a:solidFill>
          <a:ln w="12700">
            <a:solidFill>
              <a:srgbClr val="CFE9E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50408" y="1792224"/>
            <a:ext cx="1389888" cy="9418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2.5–2.7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</a:t>
            </a:r>
            <a:endParaRPr lang="en-US" sz="1400" dirty="0"/>
          </a:p>
        </p:txBody>
      </p:sp>
      <p:sp>
        <p:nvSpPr>
          <p:cNvPr id="22" name="task-4"/>
          <p:cNvSpPr/>
          <p:nvPr/>
        </p:nvSpPr>
        <p:spPr>
          <a:xfrm>
            <a:off x="7150608" y="173736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3F8F7"/>
          </a:solidFill>
          <a:ln w="12700">
            <a:solidFill>
              <a:srgbClr val="CFE9E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23760" y="1792224"/>
            <a:ext cx="1389888" cy="9418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2.8–2.10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Право, риски, оценка</a:t>
            </a:r>
            <a:endParaRPr lang="en-US" sz="1400" dirty="0"/>
          </a:p>
        </p:txBody>
      </p:sp>
      <p:sp>
        <p:nvSpPr>
          <p:cNvPr id="24" name="card-0"/>
          <p:cNvSpPr/>
          <p:nvPr/>
        </p:nvSpPr>
        <p:spPr>
          <a:xfrm>
            <a:off x="457200" y="301752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30352" y="3072384"/>
            <a:ext cx="3831336" cy="8046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игрового уровня по реальному месту</a:t>
            </a:r>
            <a:endParaRPr lang="en-US" sz="1400" dirty="0"/>
          </a:p>
        </p:txBody>
      </p:sp>
      <p:sp>
        <p:nvSpPr>
          <p:cNvPr id="26" name="card-1"/>
          <p:cNvSpPr/>
          <p:nvPr/>
        </p:nvSpPr>
        <p:spPr>
          <a:xfrm>
            <a:off x="4709160" y="301752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82312" y="3072384"/>
            <a:ext cx="3831336" cy="8046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съёмки, сборка карты, проверка ходьбой</a:t>
            </a:r>
            <a:endParaRPr lang="en-US" sz="1400" dirty="0"/>
          </a:p>
        </p:txBody>
      </p:sp>
      <p:sp>
        <p:nvSpPr>
          <p:cNvPr id="28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Введение: цель и задачи, объект и предмет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in-0"/>
          <p:cNvSpPr/>
          <p:nvPr/>
        </p:nvSpPr>
        <p:spPr>
          <a:xfrm>
            <a:off x="457200" y="27432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5" name="chain-1"/>
          <p:cNvSpPr/>
          <p:nvPr/>
        </p:nvSpPr>
        <p:spPr>
          <a:xfrm>
            <a:off x="1508760" y="274320"/>
            <a:ext cx="51206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7432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20824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8" name="chain-2"/>
          <p:cNvSpPr/>
          <p:nvPr/>
        </p:nvSpPr>
        <p:spPr>
          <a:xfrm>
            <a:off x="2249424" y="274320"/>
            <a:ext cx="97840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2743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chain-3"/>
          <p:cNvSpPr/>
          <p:nvPr/>
        </p:nvSpPr>
        <p:spPr>
          <a:xfrm>
            <a:off x="3456432" y="274320"/>
            <a:ext cx="58978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6432" y="274320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теряется на ручной доводке, данные — при экспорте</a:t>
            </a:r>
            <a:endParaRPr lang="en-US" sz="2600" dirty="0"/>
          </a:p>
        </p:txBody>
      </p:sp>
      <p:sp>
        <p:nvSpPr>
          <p:cNvPr id="14" name="step-0"/>
          <p:cNvSpPr/>
          <p:nvPr/>
        </p:nvSpPr>
        <p:spPr>
          <a:xfrm>
            <a:off x="457200" y="173736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F3F4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1737360"/>
            <a:ext cx="128016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Снять</a:t>
            </a:r>
            <a:endParaRPr lang="en-US" sz="1400" dirty="0"/>
          </a:p>
        </p:txBody>
      </p:sp>
      <p:sp>
        <p:nvSpPr>
          <p:cNvPr id="16" name="step-1"/>
          <p:cNvSpPr/>
          <p:nvPr/>
        </p:nvSpPr>
        <p:spPr>
          <a:xfrm>
            <a:off x="1847088" y="173736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F3F4F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47088" y="1737360"/>
            <a:ext cx="128016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Выгрузить</a:t>
            </a:r>
            <a:endParaRPr lang="en-US" sz="1400" dirty="0"/>
          </a:p>
        </p:txBody>
      </p:sp>
      <p:sp>
        <p:nvSpPr>
          <p:cNvPr id="18" name="step-2"/>
          <p:cNvSpPr/>
          <p:nvPr/>
        </p:nvSpPr>
        <p:spPr>
          <a:xfrm>
            <a:off x="3236976" y="173736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FDE8E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36976" y="1737360"/>
            <a:ext cx="128016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Почистить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вручную</a:t>
            </a:r>
            <a:endParaRPr lang="en-US" sz="1400" dirty="0"/>
          </a:p>
        </p:txBody>
      </p:sp>
      <p:sp>
        <p:nvSpPr>
          <p:cNvPr id="20" name="step-3"/>
          <p:cNvSpPr/>
          <p:nvPr/>
        </p:nvSpPr>
        <p:spPr>
          <a:xfrm>
            <a:off x="4626864" y="173736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FDE8E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26864" y="1737360"/>
            <a:ext cx="128016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опору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вручную</a:t>
            </a:r>
            <a:endParaRPr lang="en-US" sz="1400" dirty="0"/>
          </a:p>
        </p:txBody>
      </p:sp>
      <p:sp>
        <p:nvSpPr>
          <p:cNvPr id="22" name="step-4"/>
          <p:cNvSpPr/>
          <p:nvPr/>
        </p:nvSpPr>
        <p:spPr>
          <a:xfrm>
            <a:off x="6016752" y="173736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FDE8E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016752" y="1737360"/>
            <a:ext cx="128016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Выставить размеры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теряются</a:t>
            </a:r>
            <a:endParaRPr lang="en-US" sz="1400" dirty="0"/>
          </a:p>
        </p:txBody>
      </p:sp>
      <p:sp>
        <p:nvSpPr>
          <p:cNvPr id="24" name="step-5"/>
          <p:cNvSpPr/>
          <p:nvPr/>
        </p:nvSpPr>
        <p:spPr>
          <a:xfrm>
            <a:off x="7406640" y="1737360"/>
            <a:ext cx="1280160" cy="868680"/>
          </a:xfrm>
          <a:prstGeom prst="roundRect">
            <a:avLst>
              <a:gd name="adj" fmla="val 8421"/>
            </a:avLst>
          </a:prstGeom>
          <a:solidFill>
            <a:srgbClr val="FFF4E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406640" y="1737360"/>
            <a:ext cx="1280160" cy="8686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в движке</a:t>
            </a:r>
            <a:endParaRPr lang="en-US" sz="1400" dirty="0"/>
          </a:p>
        </p:txBody>
      </p:sp>
      <p:sp>
        <p:nvSpPr>
          <p:cNvPr id="26" name="stakeholder-0"/>
          <p:cNvSpPr/>
          <p:nvPr/>
        </p:nvSpPr>
        <p:spPr>
          <a:xfrm>
            <a:off x="457200" y="2834640"/>
            <a:ext cx="4046220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0352" y="2889504"/>
            <a:ext cx="3899916" cy="5760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Сильное влияние, высокий интерес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Пользователи, владелец продукта</a:t>
            </a:r>
            <a:endParaRPr lang="en-US" sz="1400" dirty="0"/>
          </a:p>
        </p:txBody>
      </p:sp>
      <p:sp>
        <p:nvSpPr>
          <p:cNvPr id="28" name="stakeholder-1"/>
          <p:cNvSpPr/>
          <p:nvPr/>
        </p:nvSpPr>
        <p:spPr>
          <a:xfrm>
            <a:off x="4640580" y="2834640"/>
            <a:ext cx="40462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13732" y="2889504"/>
            <a:ext cx="3899916" cy="5760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Сильное влияние, низкий интерес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Apple, игровые движки, закон о данных</a:t>
            </a:r>
            <a:endParaRPr lang="en-US" sz="1400" dirty="0"/>
          </a:p>
        </p:txBody>
      </p:sp>
      <p:sp>
        <p:nvSpPr>
          <p:cNvPr id="30" name="stakeholder-2"/>
          <p:cNvSpPr/>
          <p:nvPr/>
        </p:nvSpPr>
        <p:spPr>
          <a:xfrm>
            <a:off x="457200" y="3657600"/>
            <a:ext cx="40462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0352" y="3712464"/>
            <a:ext cx="3899916" cy="5760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 влияние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Хостинг, конкуренты</a:t>
            </a:r>
            <a:endParaRPr lang="en-US" sz="1400" dirty="0"/>
          </a:p>
        </p:txBody>
      </p:sp>
      <p:sp>
        <p:nvSpPr>
          <p:cNvPr id="32" name="stakeholder-3"/>
          <p:cNvSpPr/>
          <p:nvPr/>
        </p:nvSpPr>
        <p:spPr>
          <a:xfrm>
            <a:off x="4640580" y="3657600"/>
            <a:ext cx="404622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13732" y="3712464"/>
            <a:ext cx="3899916" cy="5760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Слабое влияние, высокий интерес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Игрок, владелец места, человек в кадре</a:t>
            </a:r>
            <a:endParaRPr lang="en-US" sz="1400" dirty="0"/>
          </a:p>
        </p:txBody>
      </p:sp>
      <p:sp>
        <p:nvSpPr>
          <p:cNvPr id="34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1.1 и 2.2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in-0"/>
          <p:cNvSpPr/>
          <p:nvPr/>
        </p:nvSpPr>
        <p:spPr>
          <a:xfrm>
            <a:off x="457200" y="27432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5" name="chain-1"/>
          <p:cNvSpPr/>
          <p:nvPr/>
        </p:nvSpPr>
        <p:spPr>
          <a:xfrm>
            <a:off x="1508760" y="274320"/>
            <a:ext cx="51206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7432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20824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8" name="chain-2"/>
          <p:cNvSpPr/>
          <p:nvPr/>
        </p:nvSpPr>
        <p:spPr>
          <a:xfrm>
            <a:off x="2249424" y="274320"/>
            <a:ext cx="97840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2743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chain-3"/>
          <p:cNvSpPr/>
          <p:nvPr/>
        </p:nvSpPr>
        <p:spPr>
          <a:xfrm>
            <a:off x="3456432" y="274320"/>
            <a:ext cx="58978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6432" y="274320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Сканеры делают модель для просмотра, а не уровень</a:t>
            </a:r>
            <a:endParaRPr lang="en-US" sz="2600" dirty="0"/>
          </a:p>
        </p:txBody>
      </p:sp>
      <p:graphicFrame>
        <p:nvGraphicFramePr>
          <p:cNvPr id="6" name="analog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1371600"/>
                <a:gridCol w="1097280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Polycam, Scaniverse, KIRI Engine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Labs Marble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Video2Game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NVC Maps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Размеры в метрах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Лёгкая опора для персонажа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547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Проверка ходьбой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547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Отказ с причиной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B423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457200" y="427939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Никто не отдаёт сразу опору в метрах, проверку ходьбой и честный отказ.</a:t>
            </a:r>
            <a:endParaRPr lang="en-US" sz="1700" dirty="0"/>
          </a:p>
        </p:txBody>
      </p:sp>
      <p:sp>
        <p:nvSpPr>
          <p:cNvPr id="16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1.3–1.4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in-0"/>
          <p:cNvSpPr/>
          <p:nvPr/>
        </p:nvSpPr>
        <p:spPr>
          <a:xfrm>
            <a:off x="457200" y="27432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5" name="chain-1"/>
          <p:cNvSpPr/>
          <p:nvPr/>
        </p:nvSpPr>
        <p:spPr>
          <a:xfrm>
            <a:off x="1508760" y="274320"/>
            <a:ext cx="51206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7432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20824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8" name="chain-2"/>
          <p:cNvSpPr/>
          <p:nvPr/>
        </p:nvSpPr>
        <p:spPr>
          <a:xfrm>
            <a:off x="2249424" y="274320"/>
            <a:ext cx="978408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2743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chain-3"/>
          <p:cNvSpPr/>
          <p:nvPr/>
        </p:nvSpPr>
        <p:spPr>
          <a:xfrm>
            <a:off x="3456432" y="274320"/>
            <a:ext cx="58978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6432" y="274320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Снял — прошёл по уровню в браузере — забрал в движок</a:t>
            </a:r>
            <a:endParaRPr lang="en-US" sz="2600" dirty="0"/>
          </a:p>
        </p:txBody>
      </p:sp>
      <p:sp>
        <p:nvSpPr>
          <p:cNvPr id="14" name="tile-0"/>
          <p:cNvSpPr/>
          <p:nvPr/>
        </p:nvSpPr>
        <p:spPr>
          <a:xfrm>
            <a:off x="457200" y="1737360"/>
            <a:ext cx="195453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0352" y="1792224"/>
            <a:ext cx="1808226" cy="8961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без ручной доводки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→ 100%</a:t>
            </a:r>
            <a:endParaRPr lang="en-US" sz="1400" dirty="0"/>
          </a:p>
        </p:txBody>
      </p:sp>
      <p:sp>
        <p:nvSpPr>
          <p:cNvPr id="16" name="tile-1"/>
          <p:cNvSpPr/>
          <p:nvPr/>
        </p:nvSpPr>
        <p:spPr>
          <a:xfrm>
            <a:off x="2548890" y="1737360"/>
            <a:ext cx="195453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622042" y="1792224"/>
            <a:ext cx="1808226" cy="8961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отправки до проверки ходьбой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часа → до 15 минут</a:t>
            </a:r>
            <a:endParaRPr lang="en-US" sz="1400" dirty="0"/>
          </a:p>
        </p:txBody>
      </p:sp>
      <p:sp>
        <p:nvSpPr>
          <p:cNvPr id="18" name="tile-2"/>
          <p:cNvSpPr/>
          <p:nvPr/>
        </p:nvSpPr>
        <p:spPr>
          <a:xfrm>
            <a:off x="4640580" y="1737360"/>
            <a:ext cx="195453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13732" y="1792224"/>
            <a:ext cx="1808226" cy="8961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Брак получает отказ с причиной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→ 100%</a:t>
            </a:r>
            <a:endParaRPr lang="en-US" sz="1400" dirty="0"/>
          </a:p>
        </p:txBody>
      </p:sp>
      <p:sp>
        <p:nvSpPr>
          <p:cNvPr id="20" name="tile-3"/>
          <p:cNvSpPr/>
          <p:nvPr/>
        </p:nvSpPr>
        <p:spPr>
          <a:xfrm>
            <a:off x="6732270" y="1737360"/>
            <a:ext cx="195453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05422" y="1792224"/>
            <a:ext cx="1808226" cy="8961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Треугольников в карте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сотни тысяч → до 50 000</a:t>
            </a:r>
            <a:endParaRPr lang="en-US" sz="1400" dirty="0"/>
          </a:p>
        </p:txBody>
      </p:sp>
      <p:sp>
        <p:nvSpPr>
          <p:cNvPr id="22" name="scope-in"/>
          <p:cNvSpPr/>
          <p:nvPr/>
        </p:nvSpPr>
        <p:spPr>
          <a:xfrm>
            <a:off x="457200" y="29718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" y="3026664"/>
            <a:ext cx="3831336" cy="9418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Входит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Съёмка на iPhone с датчиком глубины, сборка на сервере, проверка в браузере, файлы для движков</a:t>
            </a:r>
            <a:endParaRPr lang="en-US" sz="1400" dirty="0"/>
          </a:p>
        </p:txBody>
      </p:sp>
      <p:sp>
        <p:nvSpPr>
          <p:cNvPr id="24" name="scope-out"/>
          <p:cNvSpPr/>
          <p:nvPr/>
        </p:nvSpPr>
        <p:spPr>
          <a:xfrm>
            <a:off x="4709160" y="297180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3F4F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82312" y="3026664"/>
            <a:ext cx="3831336" cy="9418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входит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Игра, Android, текстуры, панель администрирования</a:t>
            </a:r>
            <a:endParaRPr lang="en-US" sz="1400" dirty="0"/>
          </a:p>
        </p:txBody>
      </p:sp>
      <p:sp>
        <p:nvSpPr>
          <p:cNvPr id="26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2.1 и 2.3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in-0"/>
          <p:cNvSpPr/>
          <p:nvPr/>
        </p:nvSpPr>
        <p:spPr>
          <a:xfrm>
            <a:off x="457200" y="27432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5" name="chain-1"/>
          <p:cNvSpPr/>
          <p:nvPr/>
        </p:nvSpPr>
        <p:spPr>
          <a:xfrm>
            <a:off x="1508760" y="274320"/>
            <a:ext cx="51206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7432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20824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8" name="chain-2"/>
          <p:cNvSpPr/>
          <p:nvPr/>
        </p:nvSpPr>
        <p:spPr>
          <a:xfrm>
            <a:off x="2249424" y="274320"/>
            <a:ext cx="97840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2743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chain-3"/>
          <p:cNvSpPr/>
          <p:nvPr/>
        </p:nvSpPr>
        <p:spPr>
          <a:xfrm>
            <a:off x="3456432" y="274320"/>
            <a:ext cx="589788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6432" y="274320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эпиков ведут к показателям; ключевая история — ходьба по карте</a:t>
            </a:r>
            <a:endParaRPr lang="en-US" sz="2600" dirty="0"/>
          </a:p>
        </p:txBody>
      </p:sp>
      <p:sp>
        <p:nvSpPr>
          <p:cNvPr id="14" name="trace-0"/>
          <p:cNvSpPr/>
          <p:nvPr/>
        </p:nvSpPr>
        <p:spPr>
          <a:xfrm>
            <a:off x="457200" y="1737360"/>
            <a:ext cx="1851660" cy="685800"/>
          </a:xfrm>
          <a:prstGeom prst="roundRect">
            <a:avLst>
              <a:gd name="adj" fmla="val 10667"/>
            </a:avLst>
          </a:prstGeom>
          <a:solidFill>
            <a:srgbClr val="F3F4F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1737360"/>
            <a:ext cx="185166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без ручной доводки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308860" y="173736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race-1"/>
          <p:cNvSpPr/>
          <p:nvPr/>
        </p:nvSpPr>
        <p:spPr>
          <a:xfrm>
            <a:off x="2583180" y="1737360"/>
            <a:ext cx="1851660" cy="685800"/>
          </a:xfrm>
          <a:prstGeom prst="roundRect">
            <a:avLst>
              <a:gd name="adj" fmla="val 10667"/>
            </a:avLst>
          </a:prstGeom>
          <a:solidFill>
            <a:srgbClr val="F3F4F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583180" y="1737360"/>
            <a:ext cx="185166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Показатель: проходимый уровень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434840" y="173736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race-2"/>
          <p:cNvSpPr/>
          <p:nvPr/>
        </p:nvSpPr>
        <p:spPr>
          <a:xfrm>
            <a:off x="4709160" y="1737360"/>
            <a:ext cx="1851660" cy="685800"/>
          </a:xfrm>
          <a:prstGeom prst="roundRect">
            <a:avLst>
              <a:gd name="adj" fmla="val 10667"/>
            </a:avLst>
          </a:prstGeom>
          <a:solidFill>
            <a:srgbClr val="F3F4F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09160" y="1737360"/>
            <a:ext cx="185166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Эпики: сборка, ходьба, файлы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60820" y="1737360"/>
            <a:ext cx="274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trace-3"/>
          <p:cNvSpPr/>
          <p:nvPr/>
        </p:nvSpPr>
        <p:spPr>
          <a:xfrm>
            <a:off x="6835140" y="1737360"/>
            <a:ext cx="1851660" cy="685800"/>
          </a:xfrm>
          <a:prstGeom prst="roundRect">
            <a:avLst>
              <a:gd name="adj" fmla="val 10667"/>
            </a:avLst>
          </a:prstGeom>
          <a:solidFill>
            <a:srgbClr val="0F766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35140" y="1737360"/>
            <a:ext cx="1851660" cy="6858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История: пройти по карте в браузере</a:t>
            </a:r>
            <a:endParaRPr lang="en-US" sz="1400" dirty="0"/>
          </a:p>
        </p:txBody>
      </p:sp>
      <p:sp>
        <p:nvSpPr>
          <p:cNvPr id="25" name="epic-0"/>
          <p:cNvSpPr/>
          <p:nvPr/>
        </p:nvSpPr>
        <p:spPr>
          <a:xfrm>
            <a:off x="457200" y="2651760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F3F4F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2651760"/>
            <a:ext cx="26517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Съёмка и проверка</a:t>
            </a:r>
            <a:endParaRPr lang="en-US" sz="1400" dirty="0"/>
          </a:p>
        </p:txBody>
      </p:sp>
      <p:sp>
        <p:nvSpPr>
          <p:cNvPr id="27" name="epic-1"/>
          <p:cNvSpPr/>
          <p:nvPr/>
        </p:nvSpPr>
        <p:spPr>
          <a:xfrm>
            <a:off x="3246120" y="2651760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F3F4F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6120" y="2651760"/>
            <a:ext cx="26517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 и задания</a:t>
            </a:r>
            <a:endParaRPr lang="en-US" sz="1400" dirty="0"/>
          </a:p>
        </p:txBody>
      </p:sp>
      <p:sp>
        <p:nvSpPr>
          <p:cNvPr id="29" name="epic-2"/>
          <p:cNvSpPr/>
          <p:nvPr/>
        </p:nvSpPr>
        <p:spPr>
          <a:xfrm>
            <a:off x="6035040" y="2651760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F3F4F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035040" y="2651760"/>
            <a:ext cx="26517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и отчёт</a:t>
            </a:r>
            <a:endParaRPr lang="en-US" sz="1400" dirty="0"/>
          </a:p>
        </p:txBody>
      </p:sp>
      <p:sp>
        <p:nvSpPr>
          <p:cNvPr id="31" name="epic-3"/>
          <p:cNvSpPr/>
          <p:nvPr/>
        </p:nvSpPr>
        <p:spPr>
          <a:xfrm>
            <a:off x="457200" y="3154680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0F766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Ходьба по карте</a:t>
            </a:r>
            <a:endParaRPr lang="en-US" sz="1400" dirty="0"/>
          </a:p>
        </p:txBody>
      </p:sp>
      <p:sp>
        <p:nvSpPr>
          <p:cNvPr id="33" name="epic-4"/>
          <p:cNvSpPr/>
          <p:nvPr/>
        </p:nvSpPr>
        <p:spPr>
          <a:xfrm>
            <a:off x="3246120" y="3154680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F3F4F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4612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Файлы для движка</a:t>
            </a:r>
            <a:endParaRPr lang="en-US" sz="1400" dirty="0"/>
          </a:p>
        </p:txBody>
      </p:sp>
      <p:sp>
        <p:nvSpPr>
          <p:cNvPr id="35" name="epic-5"/>
          <p:cNvSpPr/>
          <p:nvPr/>
        </p:nvSpPr>
        <p:spPr>
          <a:xfrm>
            <a:off x="6035040" y="3154680"/>
            <a:ext cx="2651760" cy="411480"/>
          </a:xfrm>
          <a:prstGeom prst="roundRect">
            <a:avLst>
              <a:gd name="adj" fmla="val 17778"/>
            </a:avLst>
          </a:prstGeom>
          <a:solidFill>
            <a:srgbClr val="F3F4F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035040" y="3154680"/>
            <a:ext cx="265176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Тестовая ссылка</a:t>
            </a:r>
            <a:endParaRPr lang="en-US" sz="1400" dirty="0"/>
          </a:p>
        </p:txBody>
      </p:sp>
      <p:sp>
        <p:nvSpPr>
          <p:cNvPr id="37" name="step-0"/>
          <p:cNvSpPr/>
          <p:nvPr/>
        </p:nvSpPr>
        <p:spPr>
          <a:xfrm>
            <a:off x="457200" y="3794760"/>
            <a:ext cx="1558138" cy="731520"/>
          </a:xfrm>
          <a:prstGeom prst="roundRect">
            <a:avLst>
              <a:gd name="adj" fmla="val 10000"/>
            </a:avLst>
          </a:prstGeom>
          <a:solidFill>
            <a:srgbClr val="F3F8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7200" y="3794760"/>
            <a:ext cx="1558138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Рамка зоны</a:t>
            </a:r>
            <a:endParaRPr lang="en-US" sz="1400" dirty="0"/>
          </a:p>
        </p:txBody>
      </p:sp>
      <p:sp>
        <p:nvSpPr>
          <p:cNvPr id="39" name="step-1"/>
          <p:cNvSpPr/>
          <p:nvPr/>
        </p:nvSpPr>
        <p:spPr>
          <a:xfrm>
            <a:off x="2125066" y="3794760"/>
            <a:ext cx="1558138" cy="731520"/>
          </a:xfrm>
          <a:prstGeom prst="roundRect">
            <a:avLst>
              <a:gd name="adj" fmla="val 10000"/>
            </a:avLst>
          </a:prstGeom>
          <a:solidFill>
            <a:srgbClr val="F3F8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125066" y="3794760"/>
            <a:ext cx="1558138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Обход 10–30 секунд</a:t>
            </a:r>
            <a:endParaRPr lang="en-US" sz="1400" dirty="0"/>
          </a:p>
        </p:txBody>
      </p:sp>
      <p:sp>
        <p:nvSpPr>
          <p:cNvPr id="41" name="step-2"/>
          <p:cNvSpPr/>
          <p:nvPr/>
        </p:nvSpPr>
        <p:spPr>
          <a:xfrm>
            <a:off x="3792931" y="3794760"/>
            <a:ext cx="1558138" cy="73152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792931" y="3794760"/>
            <a:ext cx="1558138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записи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— «Переснять»</a:t>
            </a:r>
            <a:endParaRPr lang="en-US" sz="1400" dirty="0"/>
          </a:p>
        </p:txBody>
      </p:sp>
      <p:sp>
        <p:nvSpPr>
          <p:cNvPr id="43" name="step-3"/>
          <p:cNvSpPr/>
          <p:nvPr/>
        </p:nvSpPr>
        <p:spPr>
          <a:xfrm>
            <a:off x="5460797" y="3794760"/>
            <a:ext cx="1558138" cy="731520"/>
          </a:xfrm>
          <a:prstGeom prst="roundRect">
            <a:avLst>
              <a:gd name="adj" fmla="val 10000"/>
            </a:avLst>
          </a:prstGeom>
          <a:solidFill>
            <a:srgbClr val="F3F8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60797" y="3794760"/>
            <a:ext cx="1558138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</a:t>
            </a:r>
            <a:endParaRPr lang="en-US" sz="1400" dirty="0"/>
          </a:p>
        </p:txBody>
      </p:sp>
      <p:sp>
        <p:nvSpPr>
          <p:cNvPr id="45" name="step-4"/>
          <p:cNvSpPr/>
          <p:nvPr/>
        </p:nvSpPr>
        <p:spPr>
          <a:xfrm>
            <a:off x="7128662" y="3794760"/>
            <a:ext cx="1558138" cy="731520"/>
          </a:xfrm>
          <a:prstGeom prst="roundRect">
            <a:avLst>
              <a:gd name="adj" fmla="val 10000"/>
            </a:avLst>
          </a:prstGeom>
          <a:solidFill>
            <a:srgbClr val="F3F8F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128662" y="3794760"/>
            <a:ext cx="1558138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Задание в очереди</a:t>
            </a:r>
            <a:endParaRPr lang="en-US" sz="1400" dirty="0"/>
          </a:p>
        </p:txBody>
      </p:sp>
      <p:sp>
        <p:nvSpPr>
          <p:cNvPr id="47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2.5–2.6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in-0"/>
          <p:cNvSpPr/>
          <p:nvPr/>
        </p:nvSpPr>
        <p:spPr>
          <a:xfrm>
            <a:off x="457200" y="27432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5" name="chain-1"/>
          <p:cNvSpPr/>
          <p:nvPr/>
        </p:nvSpPr>
        <p:spPr>
          <a:xfrm>
            <a:off x="1508760" y="274320"/>
            <a:ext cx="51206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7432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20824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8" name="chain-2"/>
          <p:cNvSpPr/>
          <p:nvPr/>
        </p:nvSpPr>
        <p:spPr>
          <a:xfrm>
            <a:off x="2249424" y="274320"/>
            <a:ext cx="978408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2743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chain-3"/>
          <p:cNvSpPr/>
          <p:nvPr/>
        </p:nvSpPr>
        <p:spPr>
          <a:xfrm>
            <a:off x="3456432" y="274320"/>
            <a:ext cx="58978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6432" y="274320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Быстро, только своим и по закону</a:t>
            </a:r>
            <a:endParaRPr lang="en-US" sz="2600" dirty="0"/>
          </a:p>
        </p:txBody>
      </p:sp>
      <p:sp>
        <p:nvSpPr>
          <p:cNvPr id="14" name="tile-0"/>
          <p:cNvSpPr/>
          <p:nvPr/>
        </p:nvSpPr>
        <p:spPr>
          <a:xfrm>
            <a:off x="457200" y="1737360"/>
            <a:ext cx="195453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0352" y="1792224"/>
            <a:ext cx="1808226" cy="8961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Сборка карты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10 минут</a:t>
            </a:r>
            <a:endParaRPr lang="en-US" sz="1400" dirty="0"/>
          </a:p>
        </p:txBody>
      </p:sp>
      <p:sp>
        <p:nvSpPr>
          <p:cNvPr id="16" name="tile-1"/>
          <p:cNvSpPr/>
          <p:nvPr/>
        </p:nvSpPr>
        <p:spPr>
          <a:xfrm>
            <a:off x="2548890" y="1737360"/>
            <a:ext cx="195453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622042" y="1792224"/>
            <a:ext cx="1808226" cy="8961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карту в браузере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10 секунд</a:t>
            </a:r>
            <a:endParaRPr lang="en-US" sz="1400" dirty="0"/>
          </a:p>
        </p:txBody>
      </p:sp>
      <p:sp>
        <p:nvSpPr>
          <p:cNvPr id="18" name="tile-2"/>
          <p:cNvSpPr/>
          <p:nvPr/>
        </p:nvSpPr>
        <p:spPr>
          <a:xfrm>
            <a:off x="4640580" y="1737360"/>
            <a:ext cx="195453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13732" y="1792224"/>
            <a:ext cx="1808226" cy="8961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 доступен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меньше 99% времени</a:t>
            </a:r>
            <a:endParaRPr lang="en-US" sz="1400" dirty="0"/>
          </a:p>
        </p:txBody>
      </p:sp>
      <p:sp>
        <p:nvSpPr>
          <p:cNvPr id="20" name="tile-3"/>
          <p:cNvSpPr/>
          <p:nvPr/>
        </p:nvSpPr>
        <p:spPr>
          <a:xfrm>
            <a:off x="6732270" y="1737360"/>
            <a:ext cx="1954530" cy="1005840"/>
          </a:xfrm>
          <a:prstGeom prst="roundRect">
            <a:avLst>
              <a:gd name="adj" fmla="val 7273"/>
            </a:avLst>
          </a:prstGeom>
          <a:solidFill>
            <a:srgbClr val="0F172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05422" y="1792224"/>
            <a:ext cx="1808226" cy="89611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веб-страниц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уровень AA</a:t>
            </a:r>
            <a:endParaRPr lang="en-US" sz="1400" dirty="0"/>
          </a:p>
        </p:txBody>
      </p:sp>
      <p:sp>
        <p:nvSpPr>
          <p:cNvPr id="22" name="legal-0"/>
          <p:cNvSpPr/>
          <p:nvPr/>
        </p:nvSpPr>
        <p:spPr>
          <a:xfrm>
            <a:off x="457200" y="2971800"/>
            <a:ext cx="195453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0352" y="3026664"/>
            <a:ext cx="1808226" cy="11704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Своя съёмка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 с пользователем — регламент Евросоюза о защите данных, статья 6</a:t>
            </a:r>
            <a:endParaRPr lang="en-US" sz="1400" dirty="0"/>
          </a:p>
        </p:txBody>
      </p:sp>
      <p:sp>
        <p:nvSpPr>
          <p:cNvPr id="24" name="legal-1"/>
          <p:cNvSpPr/>
          <p:nvPr/>
        </p:nvSpPr>
        <p:spPr>
          <a:xfrm>
            <a:off x="2548890" y="2971800"/>
            <a:ext cx="195453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622042" y="3026664"/>
            <a:ext cx="1808226" cy="11704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Случайные люди в кадре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Законный интерес; лица крупным планом не публикуются</a:t>
            </a:r>
            <a:endParaRPr lang="en-US" sz="1400" dirty="0"/>
          </a:p>
        </p:txBody>
      </p:sp>
      <p:sp>
        <p:nvSpPr>
          <p:cNvPr id="26" name="legal-2"/>
          <p:cNvSpPr/>
          <p:nvPr/>
        </p:nvSpPr>
        <p:spPr>
          <a:xfrm>
            <a:off x="4640580" y="2971800"/>
            <a:ext cx="195453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3732" y="3026664"/>
            <a:ext cx="1808226" cy="11704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90 дней, удаление по запросу — до 30 дней</a:t>
            </a:r>
            <a:endParaRPr lang="en-US" sz="1400" dirty="0"/>
          </a:p>
        </p:txBody>
      </p:sp>
      <p:sp>
        <p:nvSpPr>
          <p:cNvPr id="28" name="legal-3"/>
          <p:cNvSpPr/>
          <p:nvPr/>
        </p:nvSpPr>
        <p:spPr>
          <a:xfrm>
            <a:off x="6732270" y="2971800"/>
            <a:ext cx="195453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05422" y="3026664"/>
            <a:ext cx="1808226" cy="117043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Библиотеки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открытые лицензии</a:t>
            </a:r>
            <a:endParaRPr lang="en-US" sz="1400" dirty="0"/>
          </a:p>
        </p:txBody>
      </p:sp>
      <p:sp>
        <p:nvSpPr>
          <p:cNvPr id="30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2.7–2.8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in-0"/>
          <p:cNvSpPr/>
          <p:nvPr/>
        </p:nvSpPr>
        <p:spPr>
          <a:xfrm>
            <a:off x="457200" y="274320"/>
            <a:ext cx="822960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74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5" name="chain-1"/>
          <p:cNvSpPr/>
          <p:nvPr/>
        </p:nvSpPr>
        <p:spPr>
          <a:xfrm>
            <a:off x="1508760" y="274320"/>
            <a:ext cx="512064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8760" y="274320"/>
            <a:ext cx="512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020824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8" name="chain-2"/>
          <p:cNvSpPr/>
          <p:nvPr/>
        </p:nvSpPr>
        <p:spPr>
          <a:xfrm>
            <a:off x="2249424" y="274320"/>
            <a:ext cx="978408" cy="256032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274320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227832" y="27432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1" name="chain-3"/>
          <p:cNvSpPr/>
          <p:nvPr/>
        </p:nvSpPr>
        <p:spPr>
          <a:xfrm>
            <a:off x="3456432" y="274320"/>
            <a:ext cx="589788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56432" y="274320"/>
            <a:ext cx="589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Эпики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снимает, сервер собирает, браузер проверяет</a:t>
            </a:r>
            <a:endParaRPr lang="en-US" sz="2600" dirty="0"/>
          </a:p>
        </p:txBody>
      </p:sp>
      <p:sp>
        <p:nvSpPr>
          <p:cNvPr id="14" name="node-0"/>
          <p:cNvSpPr/>
          <p:nvPr/>
        </p:nvSpPr>
        <p:spPr>
          <a:xfrm>
            <a:off x="457200" y="182880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1828800"/>
            <a:ext cx="1463040" cy="1325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Оператор</a:t>
            </a:r>
            <a:endParaRPr lang="en-US" sz="1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съёмка с датчиком глубины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1828800"/>
            <a:ext cx="502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съёмка →</a:t>
            </a:r>
            <a:endParaRPr lang="en-US" sz="1000" dirty="0"/>
          </a:p>
        </p:txBody>
      </p:sp>
      <p:sp>
        <p:nvSpPr>
          <p:cNvPr id="17" name="node-1"/>
          <p:cNvSpPr/>
          <p:nvPr/>
        </p:nvSpPr>
        <p:spPr>
          <a:xfrm>
            <a:off x="2423160" y="182880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ECFDF5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423160" y="1828800"/>
            <a:ext cx="1463040" cy="1325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endParaRPr lang="en-US" sz="1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приём, очередь, сборка карты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886200" y="1828800"/>
            <a:ext cx="502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карта и отчёт</a:t>
            </a:r>
            <a:endParaRPr lang="en-US" sz="1000" dirty="0"/>
          </a:p>
        </p:txBody>
      </p:sp>
      <p:sp>
        <p:nvSpPr>
          <p:cNvPr id="20" name="node-2"/>
          <p:cNvSpPr/>
          <p:nvPr/>
        </p:nvSpPr>
        <p:spPr>
          <a:xfrm>
            <a:off x="4389120" y="1828800"/>
            <a:ext cx="14630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89120" y="1828800"/>
            <a:ext cx="1463040" cy="13258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Сборщик</a:t>
            </a:r>
            <a:endParaRPr lang="en-US" sz="14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Браузер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отчёт, ходьба, скачать</a:t>
            </a:r>
            <a:endParaRPr lang="en-US" sz="1400" dirty="0"/>
          </a:p>
        </p:txBody>
      </p:sp>
      <p:sp>
        <p:nvSpPr>
          <p:cNvPr id="22" name="external-0"/>
          <p:cNvSpPr/>
          <p:nvPr/>
        </p:nvSpPr>
        <p:spPr>
          <a:xfrm>
            <a:off x="457200" y="333756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337560"/>
            <a:ext cx="26060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Хостинг: база и файлы</a:t>
            </a:r>
            <a:endParaRPr lang="en-US" sz="1300" dirty="0"/>
          </a:p>
        </p:txBody>
      </p:sp>
      <p:sp>
        <p:nvSpPr>
          <p:cNvPr id="24" name="external-1"/>
          <p:cNvSpPr/>
          <p:nvPr/>
        </p:nvSpPr>
        <p:spPr>
          <a:xfrm>
            <a:off x="3246120" y="333756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46120" y="3337560"/>
            <a:ext cx="260604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Игровые движки: Godot, Unity, Unreal</a:t>
            </a:r>
            <a:endParaRPr lang="en-US" sz="1300" dirty="0"/>
          </a:p>
        </p:txBody>
      </p:sp>
      <p:sp>
        <p:nvSpPr>
          <p:cNvPr id="26" name="risk-0"/>
          <p:cNvSpPr/>
          <p:nvPr/>
        </p:nvSpPr>
        <p:spPr>
          <a:xfrm>
            <a:off x="6126480" y="173736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FDE8E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172200" y="1773936"/>
            <a:ext cx="2468880" cy="7955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Карта неузнаваема</a:t>
            </a:r>
            <a:endParaRPr lang="en-US" sz="14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Маленькая зона, обязательные позы камеры, отказ вместо случайной геометрии</a:t>
            </a:r>
            <a:endParaRPr lang="en-US" sz="1400" dirty="0"/>
          </a:p>
        </p:txBody>
      </p:sp>
      <p:sp>
        <p:nvSpPr>
          <p:cNvPr id="28" name="risk-1"/>
          <p:cNvSpPr/>
          <p:nvPr/>
        </p:nvSpPr>
        <p:spPr>
          <a:xfrm>
            <a:off x="6126480" y="2715768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FDE8E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172200" y="2752344"/>
            <a:ext cx="2468880" cy="7955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Опора не держит персонажа</a:t>
            </a:r>
            <a:endParaRPr lang="en-US" sz="14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ходьбой до выдачи файлов</a:t>
            </a:r>
            <a:endParaRPr lang="en-US" sz="1400" dirty="0"/>
          </a:p>
        </p:txBody>
      </p:sp>
      <p:sp>
        <p:nvSpPr>
          <p:cNvPr id="30" name="risk-2"/>
          <p:cNvSpPr/>
          <p:nvPr/>
        </p:nvSpPr>
        <p:spPr>
          <a:xfrm>
            <a:off x="6126480" y="3694176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FDE8E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72200" y="3730752"/>
            <a:ext cx="2468880" cy="7955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Портрет пользователя не подтверждён</a:t>
            </a:r>
            <a:endParaRPr lang="en-US" sz="14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интервью до следующего релиза</a:t>
            </a:r>
            <a:endParaRPr lang="en-US" sz="1400" dirty="0"/>
          </a:p>
        </p:txBody>
      </p:sp>
      <p:sp>
        <p:nvSpPr>
          <p:cNvPr id="32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Разделы 2.4 и 2.9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Запасные слайды</a:t>
            </a:r>
            <a:endParaRPr lang="en-US" sz="2600" dirty="0"/>
          </a:p>
        </p:txBody>
      </p:sp>
      <p:sp>
        <p:nvSpPr>
          <p:cNvPr id="3" name="backup-0"/>
          <p:cNvSpPr/>
          <p:nvPr/>
        </p:nvSpPr>
        <p:spPr>
          <a:xfrm>
            <a:off x="457200" y="1325880"/>
            <a:ext cx="40005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99032"/>
            <a:ext cx="3817620" cy="7680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1.3</a:t>
            </a:r>
            <a:endParaRPr lang="en-US" sz="1400" dirty="0"/>
          </a:p>
          <a:p>
            <a:pPr algn="l" indent="0" marL="0">
              <a:buNone/>
            </a:pPr>
            <a:r>
              <a:rPr lang="en-US" sz="1800" b="1" u="sng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Полная таблица аналогов</a:t>
            </a:r>
            <a:endParaRPr lang="en-US" sz="1400" dirty="0"/>
          </a:p>
        </p:txBody>
      </p:sp>
      <p:sp>
        <p:nvSpPr>
          <p:cNvPr id="5" name="backup-1"/>
          <p:cNvSpPr/>
          <p:nvPr/>
        </p:nvSpPr>
        <p:spPr>
          <a:xfrm>
            <a:off x="4686300" y="1325880"/>
            <a:ext cx="40005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77740" y="1399032"/>
            <a:ext cx="3817620" cy="7680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1</a:t>
            </a:r>
            <a:endParaRPr lang="en-US" sz="1400" dirty="0"/>
          </a:p>
          <a:p>
            <a:pPr algn="l" indent="0" marL="0">
              <a:buNone/>
            </a:pPr>
            <a:r>
              <a:rPr lang="en-US" sz="1800" b="1" u="sng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Все эпики и истории</a:t>
            </a:r>
            <a:endParaRPr lang="en-US" sz="1400" dirty="0"/>
          </a:p>
        </p:txBody>
      </p:sp>
      <p:sp>
        <p:nvSpPr>
          <p:cNvPr id="7" name="backup-2"/>
          <p:cNvSpPr/>
          <p:nvPr/>
        </p:nvSpPr>
        <p:spPr>
          <a:xfrm>
            <a:off x="457200" y="2468880"/>
            <a:ext cx="40005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42032"/>
            <a:ext cx="3817620" cy="7680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2.9</a:t>
            </a:r>
            <a:endParaRPr lang="en-US" sz="1400" dirty="0"/>
          </a:p>
          <a:p>
            <a:pPr algn="l" indent="0" marL="0">
              <a:buNone/>
            </a:pPr>
            <a:r>
              <a:rPr lang="en-US" sz="1800" b="1" u="sng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Таблица рисков</a:t>
            </a:r>
            <a:endParaRPr lang="en-US" sz="1400" dirty="0"/>
          </a:p>
        </p:txBody>
      </p:sp>
      <p:sp>
        <p:nvSpPr>
          <p:cNvPr id="9" name="backup-3"/>
          <p:cNvSpPr/>
          <p:nvPr/>
        </p:nvSpPr>
        <p:spPr>
          <a:xfrm>
            <a:off x="4686300" y="2468880"/>
            <a:ext cx="40005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77740" y="2542032"/>
            <a:ext cx="3817620" cy="7680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 2.6</a:t>
            </a:r>
            <a:endParaRPr lang="en-US" sz="1400" dirty="0"/>
          </a:p>
          <a:p>
            <a:pPr algn="l" indent="0" marL="0">
              <a:buNone/>
            </a:pPr>
            <a:r>
              <a:rPr lang="en-US" sz="1800" b="1" u="sng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Полный текст сценариев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Показываются после доклада, по вопросам комиссии.</a:t>
            </a:r>
            <a:endParaRPr lang="en-US" sz="1200" dirty="0"/>
          </a:p>
        </p:txBody>
      </p:sp>
      <p:sp>
        <p:nvSpPr>
          <p:cNvPr id="12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 защите: запасные слайды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типовые вопросы комиссии (1 из 2)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3017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вы убедились, что проблема реальна?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рынка и девяти аналогов: ни один не отдаёт опору в метрах и проверку ходьбой. Интервью пока не было — это отдельный риск, план: пять интервью с инди-разработчиками.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3017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Чем решение лучше аналога?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103120"/>
            <a:ext cx="51206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сканер, а сборщик уровня: лёгкая опора, настоящие размеры, ходьба в браузере, честный отказ, повторяемость. Картинка проще — это осознанная граница.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такие показатели и как их измерить?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880360"/>
            <a:ext cx="51206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показатель — одна боль: ручная доводка, время, брак, вес карты. Измеряются прогоном четырёх эталонных съёмок по тестовой ссылке.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57600"/>
            <a:ext cx="3017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вне проекта и почему?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3657600"/>
            <a:ext cx="51206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Игра, Android, текстуры, своя модель глубины, панель администрирования. Один разработчик и фиксированный срок — в релиз входит только путь «снял — прошёл — забрал».</a:t>
            </a:r>
            <a:endParaRPr lang="en-US" sz="1400" dirty="0"/>
          </a:p>
        </p:txBody>
      </p:sp>
      <p:sp>
        <p:nvSpPr>
          <p:cNvPr id="11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 защите: типовые вопросы комиссии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658368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типовые вопросы комиссии (2 из 2)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25880"/>
            <a:ext cx="3017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истории обязательны и что уберёте при нехватке времени?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3566160" y="1325880"/>
            <a:ext cx="51206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Пятнадцать обязательных историй, без которых не достичь показателей. Первыми уходят желательные: подсказка обхода, фильтр, сравнение сборок, рост персонажа, инструкция для Godot.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03120"/>
            <a:ext cx="3017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Какие персональные данные и на каком основании?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566160" y="2103120"/>
            <a:ext cx="51206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устройства, видео участка, сетевые адреса в журналах. Регламент Евросоюза о защите данных, статья 6: договор и законный интерес; хранение до 90 дней, удаление по запросу.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80360"/>
            <a:ext cx="301752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самое рискованное?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880360"/>
            <a:ext cx="5120640" cy="7315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карты. Снижаем маленькой зоной, обязательными позами камеры и отказом вместо случайной геометрии; проверяем ходьбой до выдачи.</a:t>
            </a:r>
            <a:endParaRPr lang="en-US" sz="1400" dirty="0"/>
          </a:p>
        </p:txBody>
      </p:sp>
      <p:sp>
        <p:nvSpPr>
          <p:cNvPr id="9" name="section-ref"/>
          <p:cNvSpPr txBox="1"/>
          <p:nvPr/>
        </p:nvSpPr>
        <p:spPr>
          <a:xfrm>
            <a:off x="457200" y="47548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к защите: типовые вопросы комиссии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Система создания игровых 3D-карт по видеозаписи</dc:title>
  <dc:subject>PptxGenJS Presentation</dc:subject>
  <dc:creator>Кирилл Калашников</dc:creator>
  <cp:lastModifiedBy>Кирилл Калашников</cp:lastModifiedBy>
  <cp:revision>1</cp:revision>
  <dcterms:created xsi:type="dcterms:W3CDTF">2026-10-22T11:52:02Z</dcterms:created>
  <dcterms:modified xsi:type="dcterms:W3CDTF">2026-10-22T11:52:02Z</dcterms:modified>
</cp:coreProperties>
</file>